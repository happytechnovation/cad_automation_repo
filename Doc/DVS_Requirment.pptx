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06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6C402-7837-206F-2C62-7F223B84C0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EF292B-6C33-E481-AE87-8FEC75375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8684A-D23E-C1B5-63D4-77F8CF1DF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D0B8-3E05-4CAD-8061-5E636007168E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B79A6-F942-1528-0173-133FAF744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8ED23-4F96-BED8-8D4D-CA2EAAE05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AC94-A976-41B9-B4D9-F49116F05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548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7514F-0506-FC85-14DC-6F1F60514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B42AA-4D87-24B3-5857-580E15484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708F1-FA43-3B53-C8AC-83A894183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D0B8-3E05-4CAD-8061-5E636007168E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F91CD-06B5-7BCB-6449-EA31656D0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DB848-D8BE-E2B7-6315-0A3C0A7E4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AC94-A976-41B9-B4D9-F49116F05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737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5EFD0-4C2B-2396-07D9-2D333E495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A7DC3-D727-B2DD-FF58-7C017849A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DAF74-0B05-7500-7583-D095A4B1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D0B8-3E05-4CAD-8061-5E636007168E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D44A2-52ED-0CAA-ED27-9B68D5556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5B4AD-9A16-7FC9-2E13-4D96696C0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AC94-A976-41B9-B4D9-F49116F05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867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89714-39B1-E9D8-ADC0-E8FD8989A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DF9B3-22CB-89B0-109D-378C2EC917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4A9825-D3E0-D780-266C-2D6C7AB43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975D1-A570-8352-0324-414040C1C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D0B8-3E05-4CAD-8061-5E636007168E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C08FAF-6534-A714-D5E8-3D268178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2F184-855A-7150-68DE-F50EAD56F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AC94-A976-41B9-B4D9-F49116F05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904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F7C69-E58A-9E37-600D-2045841BF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ED1D4-05BF-F0BF-2080-57FB69660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25AE8D-0E52-B291-F50B-1C1BB4467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9D5E2F-8649-F369-6366-927DEC65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A07F81-6754-F7BF-C290-19D4EE7CF0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9AB08-E8E2-AEC8-6716-A2612BCB1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D0B8-3E05-4CAD-8061-5E636007168E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1960C0-8B7E-EAF1-1CC8-1970A14E3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125E04-4899-C8E6-0A7B-6E70D48FB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AC94-A976-41B9-B4D9-F49116F05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187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ECB4E-2A3B-2956-EA0D-5B6B49D5B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10C2E2-1ABF-137A-89D0-78EAD8E30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D0B8-3E05-4CAD-8061-5E636007168E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035204-B929-5585-9889-A314F9022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2F424-D302-8DF9-BE87-91E8E430F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AC94-A976-41B9-B4D9-F49116F05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754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077509-0E2D-E7A9-400B-CA25DB8D9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D0B8-3E05-4CAD-8061-5E636007168E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C9A46B-8256-C24C-3863-0F417FAD6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3D7A1-D4DD-8FEB-2641-440EB29A2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AC94-A976-41B9-B4D9-F49116F05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203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B3E4A-488A-535B-D105-AD0CB15E1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FBF75-DAA8-2928-A623-2A62FB22E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C21AF-AE59-9B64-33C1-293D9261B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880E39-8113-8DA3-1A5D-4585E7107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D0B8-3E05-4CAD-8061-5E636007168E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303A3-0655-B1CA-49AB-FAED4F012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847EBE-1690-6D00-C8F8-732D8E3EB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AC94-A976-41B9-B4D9-F49116F05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24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73C4F-7CC7-67C8-9079-C28BBC210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971287-FF35-E9B7-C476-7D6A1EFE3B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4766DB-A184-7A1F-C030-EA4C8652A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E10747-6069-7457-F76F-5EEBB21FA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D0B8-3E05-4CAD-8061-5E636007168E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6A0AA-D70F-02CC-8EE7-BF317EE05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AEF18-0BAA-BB74-B80A-3D604775B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AC94-A976-41B9-B4D9-F49116F05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675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6B6BE-0640-FCAC-DAF1-60958A28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F4F9AD-F757-F4A0-7D41-DCFDD66E4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CB6D2-BF2F-FA70-5B86-CF5F5DF66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D0B8-3E05-4CAD-8061-5E636007168E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F3244-AEAB-6F68-A8A3-738351353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1FF4D-CF6B-84EA-EF61-DBC77EBAA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AC94-A976-41B9-B4D9-F49116F05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943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37697D-0BA0-C886-11CA-B29CBAF068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1513F7-50B4-0DFC-37AA-DB61516CE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F6BE6-9F9F-3536-FBC6-ACCDBDDC5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D0B8-3E05-4CAD-8061-5E636007168E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A5862-D17C-2280-57DF-235133442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4CEF5-7210-8689-19C4-B5A5E55E4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AC94-A976-41B9-B4D9-F49116F05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153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76E3D1-9BBB-9201-5F36-BC558750F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1E5BE-0112-1E45-8029-51A735C1A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4DC02-BDCE-0620-11BE-596F5713C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7CD0B8-3E05-4CAD-8061-5E636007168E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972F3-E437-290A-1EEB-690596413B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E5B13-7928-31B2-F8E6-DB99BF850A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4AC94-A976-41B9-B4D9-F49116F05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229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D102D5-5F87-B434-B70E-8BACC3528604}"/>
              </a:ext>
            </a:extLst>
          </p:cNvPr>
          <p:cNvSpPr txBox="1"/>
          <p:nvPr/>
        </p:nvSpPr>
        <p:spPr>
          <a:xfrm>
            <a:off x="1001486" y="759581"/>
            <a:ext cx="1150982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0" i="0" dirty="0">
                <a:solidFill>
                  <a:srgbClr val="002060"/>
                </a:solidFill>
                <a:effectLst/>
                <a:latin typeface="Courier New" panose="02070309020205020404" pitchFamily="49" charset="0"/>
              </a:rPr>
              <a:t>[Driver Reference Data]</a:t>
            </a:r>
          </a:p>
          <a:p>
            <a:pPr algn="l">
              <a:buNone/>
            </a:pPr>
            <a:r>
              <a:rPr lang="en-IN" b="0" i="0" dirty="0">
                <a:solidFill>
                  <a:srgbClr val="002060"/>
                </a:solidFill>
                <a:effectLst/>
                <a:latin typeface="Courier New" panose="02070309020205020404" pitchFamily="49" charset="0"/>
              </a:rPr>
              <a:t>├── </a:t>
            </a:r>
            <a:r>
              <a:rPr lang="en-IN" b="0" i="0" dirty="0" err="1">
                <a:solidFill>
                  <a:srgbClr val="002060"/>
                </a:solidFill>
                <a:effectLst/>
                <a:latin typeface="Courier New" panose="02070309020205020404" pitchFamily="49" charset="0"/>
              </a:rPr>
              <a:t>SgRP</a:t>
            </a:r>
            <a:r>
              <a:rPr lang="en-IN" b="0" i="0" dirty="0">
                <a:solidFill>
                  <a:srgbClr val="002060"/>
                </a:solidFill>
                <a:effectLst/>
                <a:latin typeface="Courier New" panose="02070309020205020404" pitchFamily="49" charset="0"/>
              </a:rPr>
              <a:t> / H-Point Selection (CAD Point)</a:t>
            </a:r>
          </a:p>
          <a:p>
            <a:pPr algn="l">
              <a:buNone/>
            </a:pPr>
            <a:r>
              <a:rPr lang="en-IN" b="0" i="0" dirty="0">
                <a:solidFill>
                  <a:srgbClr val="002060"/>
                </a:solidFill>
                <a:effectLst/>
                <a:latin typeface="Courier New" panose="02070309020205020404" pitchFamily="49" charset="0"/>
              </a:rPr>
              <a:t>├── Left Eye Point Selection (CAD Point)</a:t>
            </a:r>
          </a:p>
          <a:p>
            <a:pPr algn="l">
              <a:buNone/>
            </a:pPr>
            <a:r>
              <a:rPr lang="en-IN" b="0" i="0" dirty="0">
                <a:solidFill>
                  <a:srgbClr val="002060"/>
                </a:solidFill>
                <a:effectLst/>
                <a:latin typeface="Courier New" panose="02070309020205020404" pitchFamily="49" charset="0"/>
              </a:rPr>
              <a:t>└── Right Eye Point Selection (CAD Point)</a:t>
            </a:r>
          </a:p>
          <a:p>
            <a:pPr algn="l">
              <a:buNone/>
            </a:pPr>
            <a:endParaRPr lang="en-IN" b="0" i="0" dirty="0">
              <a:solidFill>
                <a:srgbClr val="002060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002060"/>
                </a:solidFill>
                <a:effectLst/>
                <a:latin typeface="Courier New" panose="02070309020205020404" pitchFamily="49" charset="0"/>
              </a:rPr>
              <a:t>[Standard &amp; Regulation Setup]</a:t>
            </a:r>
          </a:p>
          <a:p>
            <a:pPr algn="l">
              <a:buNone/>
            </a:pPr>
            <a:r>
              <a:rPr lang="en-IN" b="0" i="0" dirty="0">
                <a:solidFill>
                  <a:srgbClr val="002060"/>
                </a:solidFill>
                <a:effectLst/>
                <a:latin typeface="Courier New" panose="02070309020205020404" pitchFamily="49" charset="0"/>
              </a:rPr>
              <a:t>├── Standard Selection Combo: [London DVS (TfL) | UNECE R125 | ISO 5006]</a:t>
            </a:r>
          </a:p>
          <a:p>
            <a:pPr algn="l">
              <a:buNone/>
            </a:pPr>
            <a:r>
              <a:rPr lang="en-IN" b="0" i="0" dirty="0">
                <a:solidFill>
                  <a:srgbClr val="002060"/>
                </a:solidFill>
                <a:effectLst/>
                <a:latin typeface="Courier New" panose="02070309020205020404" pitchFamily="49" charset="0"/>
              </a:rPr>
              <a:t>├── Neck Pivot / Eye Ellipse Offset</a:t>
            </a:r>
          </a:p>
          <a:p>
            <a:pPr algn="l">
              <a:buNone/>
            </a:pPr>
            <a:r>
              <a:rPr lang="en-IN" b="0" i="0" dirty="0">
                <a:solidFill>
                  <a:srgbClr val="002060"/>
                </a:solidFill>
                <a:effectLst/>
                <a:latin typeface="Courier New" panose="02070309020205020404" pitchFamily="49" charset="0"/>
              </a:rPr>
              <a:t>└── Head Rotation Angle Limits (e.g., -60° to +60°)</a:t>
            </a:r>
          </a:p>
          <a:p>
            <a:pPr algn="l">
              <a:buNone/>
            </a:pPr>
            <a:endParaRPr lang="en-IN" b="0" i="0" dirty="0">
              <a:solidFill>
                <a:srgbClr val="002060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002060"/>
                </a:solidFill>
                <a:effectLst/>
                <a:latin typeface="Courier New" panose="02070309020205020404" pitchFamily="49" charset="0"/>
              </a:rPr>
              <a:t>[Geometric Boundaries &amp; Filters]</a:t>
            </a:r>
          </a:p>
          <a:p>
            <a:pPr algn="l">
              <a:buNone/>
            </a:pPr>
            <a:r>
              <a:rPr lang="en-IN" b="0" i="0" dirty="0">
                <a:solidFill>
                  <a:srgbClr val="002060"/>
                </a:solidFill>
                <a:effectLst/>
                <a:latin typeface="Courier New" panose="02070309020205020404" pitchFamily="49" charset="0"/>
              </a:rPr>
              <a:t>├── Glazing Surfaces (Select </a:t>
            </a:r>
            <a:r>
              <a:rPr lang="en-IN" b="0" i="0" dirty="0" err="1">
                <a:solidFill>
                  <a:srgbClr val="002060"/>
                </a:solidFill>
                <a:effectLst/>
                <a:latin typeface="Courier New" panose="02070309020205020404" pitchFamily="49" charset="0"/>
              </a:rPr>
              <a:t>CATIGSMAssemble</a:t>
            </a:r>
            <a:r>
              <a:rPr lang="en-IN" b="0" i="0" dirty="0">
                <a:solidFill>
                  <a:srgbClr val="002060"/>
                </a:solidFill>
                <a:effectLst/>
                <a:latin typeface="Courier New" panose="02070309020205020404" pitchFamily="49" charset="0"/>
              </a:rPr>
              <a:t>: Windshield, Side Windows)</a:t>
            </a:r>
          </a:p>
          <a:p>
            <a:pPr algn="l">
              <a:buNone/>
            </a:pPr>
            <a:r>
              <a:rPr lang="en-IN" b="0" i="0" dirty="0">
                <a:solidFill>
                  <a:srgbClr val="002060"/>
                </a:solidFill>
                <a:effectLst/>
                <a:latin typeface="Courier New" panose="02070309020205020404" pitchFamily="49" charset="0"/>
              </a:rPr>
              <a:t>├── Obstacles List (Select </a:t>
            </a:r>
            <a:r>
              <a:rPr lang="en-IN" b="0" i="0" dirty="0" err="1">
                <a:solidFill>
                  <a:srgbClr val="002060"/>
                </a:solidFill>
                <a:effectLst/>
                <a:latin typeface="Courier New" panose="02070309020205020404" pitchFamily="49" charset="0"/>
              </a:rPr>
              <a:t>CATBody</a:t>
            </a:r>
            <a:r>
              <a:rPr lang="en-IN" b="0" i="0" dirty="0">
                <a:solidFill>
                  <a:srgbClr val="002060"/>
                </a:solidFill>
                <a:effectLst/>
                <a:latin typeface="Courier New" panose="02070309020205020404" pitchFamily="49" charset="0"/>
              </a:rPr>
              <a:t>: Mirrors, Wipers, Bumpers, Fenders, Pillars)</a:t>
            </a:r>
          </a:p>
          <a:p>
            <a:pPr algn="l">
              <a:buNone/>
            </a:pPr>
            <a:r>
              <a:rPr lang="en-IN" b="0" i="0" dirty="0">
                <a:solidFill>
                  <a:srgbClr val="002060"/>
                </a:solidFill>
                <a:effectLst/>
                <a:latin typeface="Courier New" panose="02070309020205020404" pitchFamily="49" charset="0"/>
              </a:rPr>
              <a:t>└── Ground Plane Selection (CAD Plane - represents vehicle loading height)</a:t>
            </a:r>
          </a:p>
        </p:txBody>
      </p:sp>
    </p:spTree>
    <p:extLst>
      <p:ext uri="{BB962C8B-B14F-4D97-AF65-F5344CB8AC3E}">
        <p14:creationId xmlns:p14="http://schemas.microsoft.com/office/powerpoint/2010/main" val="1553567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Rakshith</dc:creator>
  <cp:lastModifiedBy>Rakshith</cp:lastModifiedBy>
  <cp:revision>1</cp:revision>
  <dcterms:created xsi:type="dcterms:W3CDTF">2026-05-29T05:00:43Z</dcterms:created>
  <dcterms:modified xsi:type="dcterms:W3CDTF">2026-05-29T05:01:33Z</dcterms:modified>
</cp:coreProperties>
</file>